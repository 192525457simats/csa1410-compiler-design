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3" r:id="rId8"/>
    <p:sldId id="262"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nguage Processors" id="{631A0FC3-F4B4-83D6-C114-46BDE51A36DA}">
          <p14:sldIdLst>
            <p14:sldId id="256"/>
            <p14:sldId id="257"/>
            <p14:sldId id="258"/>
            <p14:sldId id="259"/>
            <p14:sldId id="260"/>
            <p14:sldId id="261"/>
            <p14:sldId id="263"/>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213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topic: language processors - the tools that turn the code we write into something a computer can run.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language processor takes source code as input. The computer's CPU only understands machine code, so something has to translate. There are three main kinds, and each handles the source code in a different way.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compiler reads the entire program, checks it, and translates it into machine code in one go. The result is an executable file. For example, gcc turns hello.c into an executable called hello, which we can then run as many times as we like.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interpreter takes one line at a time, translates it, and executes it straight away, then moves to the next line. Python works this way: line 1 sets x, line 2 sets y, line 3 prints 8. If a line has an error, execution stops there.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Assembly language uses readable mnemonics like MOV and ADD. The assembler converts each instruction into its machine code. For example, MOV AX, 5 becomes B8 05 00 and ADD AX, 3 becomes 05 03 00 in 16-bit x86.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compilers translate everything first and give an executable file, interpreters run the code line by line, and assemblers turn assembly language into machine code. Thank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solidFill>
          <a:srgbClr val="1F4E9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005840"/>
            <a:ext cx="7863840" cy="10972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005840"/>
            <a:ext cx="7863840" cy="1097280"/>
          </a:xfrm>
          <a:prstGeom prst="rect">
            <a:avLst/>
          </a:prstGeom>
          <a:noFill/>
          <a:ln/>
        </p:spPr>
        <p:txBody>
          <a:bodyPr wrap="square" lIns="0" tIns="0" rIns="0" bIns="0" rtlCol="0" anchor="ctr"/>
          <a:lstStyle/>
          <a:p>
            <a:pPr marL="0" indent="0" algn="l">
              <a:buNone/>
            </a:pPr>
            <a:r>
              <a:rPr lang="en-US" sz="4400" b="1" dirty="0">
                <a:solidFill>
                  <a:schemeClr val="bg1"/>
                </a:solidFill>
                <a:latin typeface="Times New Roman" panose="02020603050405020304" pitchFamily="18" charset="0"/>
                <a:cs typeface="Times New Roman" panose="02020603050405020304" pitchFamily="18" charset="0"/>
              </a:rPr>
              <a:t>Language Processors Overview</a:t>
            </a:r>
            <a:endParaRPr lang="en-US" sz="4400" dirty="0">
              <a:latin typeface="Times New Roman" panose="02020603050405020304" pitchFamily="18" charset="0"/>
              <a:cs typeface="Times New Roman" panose="02020603050405020304" pitchFamily="18" charset="0"/>
            </a:endParaRPr>
          </a:p>
        </p:txBody>
      </p:sp>
      <p:sp>
        <p:nvSpPr>
          <p:cNvPr id="3" name="Subtitle"/>
          <p:cNvSpPr txBox="1"/>
          <p:nvPr/>
        </p:nvSpPr>
        <p:spPr>
          <a:xfrm>
            <a:off x="640080" y="2103120"/>
            <a:ext cx="7863840" cy="457200"/>
          </a:xfrm>
          <a:prstGeom prst="rect">
            <a:avLst/>
          </a:prstGeom>
          <a:noFill/>
          <a:ln/>
        </p:spPr>
        <p:txBody>
          <a:bodyPr wrap="square" lIns="0" tIns="0" rIns="0" bIns="0" rtlCol="0" anchor="ctr"/>
          <a:lstStyle/>
          <a:p>
            <a:pPr marL="0" indent="0">
              <a:buNone/>
            </a:pPr>
            <a:r>
              <a:rPr lang="en-US" sz="2200" dirty="0">
                <a:solidFill>
                  <a:schemeClr val="accent4"/>
                </a:solidFill>
                <a:latin typeface="Times New Roman" panose="02020603050405020304" pitchFamily="18" charset="0"/>
                <a:cs typeface="Times New Roman" panose="02020603050405020304" pitchFamily="18" charset="0"/>
              </a:rPr>
              <a:t>Compiler, Interpreter and Assembler</a:t>
            </a:r>
            <a:endParaRPr lang="en-US" sz="2200" dirty="0">
              <a:latin typeface="Times New Roman" panose="02020603050405020304" pitchFamily="18" charset="0"/>
              <a:cs typeface="Times New Roman" panose="02020603050405020304" pitchFamily="18" charset="0"/>
            </a:endParaRPr>
          </a:p>
        </p:txBody>
      </p:sp>
      <p:sp>
        <p:nvSpPr>
          <p:cNvPr id="4" name="Student details"/>
          <p:cNvSpPr txBox="1"/>
          <p:nvPr/>
        </p:nvSpPr>
        <p:spPr>
          <a:xfrm>
            <a:off x="6154615" y="3200400"/>
            <a:ext cx="3144129" cy="1005840"/>
          </a:xfrm>
          <a:prstGeom prst="rect">
            <a:avLst/>
          </a:prstGeom>
          <a:noFill/>
          <a:ln/>
        </p:spPr>
        <p:txBody>
          <a:bodyPr wrap="square" lIns="0" tIns="0" rIns="0" bIns="0" rtlCol="0" anchor="t"/>
          <a:lstStyle/>
          <a:p>
            <a:pPr marL="0" indent="0">
              <a:spcAft>
                <a:spcPts val="1200"/>
              </a:spcAft>
              <a:buNone/>
            </a:pPr>
            <a:r>
              <a:rPr lang="en-US" sz="1800" dirty="0">
                <a:solidFill>
                  <a:schemeClr val="bg1"/>
                </a:solidFill>
                <a:latin typeface="Times New Roman" panose="02020603050405020304" pitchFamily="18" charset="0"/>
                <a:cs typeface="Times New Roman" panose="02020603050405020304" pitchFamily="18" charset="0"/>
              </a:rPr>
              <a:t>Presented By:</a:t>
            </a:r>
          </a:p>
          <a:p>
            <a:pPr marL="0" indent="0">
              <a:spcAft>
                <a:spcPts val="1200"/>
              </a:spcAft>
              <a:buNone/>
            </a:pPr>
            <a:r>
              <a:rPr lang="en-US" sz="1800" dirty="0">
                <a:solidFill>
                  <a:schemeClr val="bg1"/>
                </a:solidFill>
                <a:latin typeface="Times New Roman" panose="02020603050405020304" pitchFamily="18" charset="0"/>
                <a:cs typeface="Times New Roman" panose="02020603050405020304" pitchFamily="18" charset="0"/>
              </a:rPr>
              <a:t>Student Name: </a:t>
            </a:r>
            <a:r>
              <a:rPr lang="en-US" dirty="0" err="1">
                <a:solidFill>
                  <a:schemeClr val="bg1"/>
                </a:solidFill>
                <a:latin typeface="Times New Roman" panose="02020603050405020304" pitchFamily="18" charset="0"/>
                <a:cs typeface="Times New Roman" panose="02020603050405020304" pitchFamily="18" charset="0"/>
              </a:rPr>
              <a:t>B.Hemanjali</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solidFill>
                  <a:schemeClr val="bg1"/>
                </a:solidFill>
                <a:latin typeface="Times New Roman" panose="02020603050405020304" pitchFamily="18" charset="0"/>
                <a:cs typeface="Times New Roman" panose="02020603050405020304" pitchFamily="18" charset="0"/>
              </a:rPr>
              <a:t>Reg No: 192525457</a:t>
            </a:r>
            <a:endParaRPr lang="en-US"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A6251E8-6BB7-F43D-95BF-63A8F1EB4714}"/>
              </a:ext>
            </a:extLst>
          </p:cNvPr>
          <p:cNvSpPr txBox="1"/>
          <p:nvPr/>
        </p:nvSpPr>
        <p:spPr>
          <a:xfrm>
            <a:off x="640080" y="3068516"/>
            <a:ext cx="1287597" cy="873572"/>
          </a:xfrm>
          <a:prstGeom prst="rect">
            <a:avLst/>
          </a:prstGeom>
          <a:noFill/>
        </p:spPr>
        <p:txBody>
          <a:bodyPr wrap="none" rtlCol="0">
            <a:spAutoFit/>
          </a:bodyPr>
          <a:lstStyle/>
          <a:p>
            <a:pPr>
              <a:lnSpc>
                <a:spcPct val="150000"/>
              </a:lnSpc>
            </a:pPr>
            <a:r>
              <a:rPr lang="en-US" dirty="0">
                <a:solidFill>
                  <a:schemeClr val="bg1">
                    <a:lumMod val="95000"/>
                  </a:schemeClr>
                </a:solidFill>
                <a:latin typeface="Times New Roman" panose="02020603050405020304" pitchFamily="18" charset="0"/>
                <a:cs typeface="Times New Roman" panose="02020603050405020304" pitchFamily="18" charset="0"/>
              </a:rPr>
              <a:t>Guided By:</a:t>
            </a:r>
          </a:p>
          <a:p>
            <a:pPr>
              <a:lnSpc>
                <a:spcPct val="150000"/>
              </a:lnSpc>
            </a:pPr>
            <a:r>
              <a:rPr lang="en-US" dirty="0" err="1">
                <a:solidFill>
                  <a:schemeClr val="bg1">
                    <a:lumMod val="95000"/>
                  </a:schemeClr>
                </a:solidFill>
                <a:latin typeface="Times New Roman" panose="02020603050405020304" pitchFamily="18" charset="0"/>
                <a:cs typeface="Times New Roman" panose="02020603050405020304" pitchFamily="18" charset="0"/>
              </a:rPr>
              <a:t>Dr.N.Deepa</a:t>
            </a:r>
            <a:endParaRPr lang="en-IN" dirty="0">
              <a:solidFill>
                <a:schemeClr val="bg1">
                  <a:lumMod val="95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83059B5-D8BA-F8BB-9394-2F46748467BB}"/>
              </a:ext>
            </a:extLst>
          </p:cNvPr>
          <p:cNvSpPr txBox="1"/>
          <p:nvPr/>
        </p:nvSpPr>
        <p:spPr>
          <a:xfrm>
            <a:off x="1097280" y="2628872"/>
            <a:ext cx="2995372" cy="369332"/>
          </a:xfrm>
          <a:prstGeom prst="rect">
            <a:avLst/>
          </a:prstGeom>
          <a:noFill/>
        </p:spPr>
        <p:txBody>
          <a:bodyPr wrap="none" rtlCol="0">
            <a:spAutoFit/>
          </a:bodyPr>
          <a:lstStyle/>
          <a:p>
            <a:r>
              <a:rPr lang="en-US" b="1" dirty="0">
                <a:solidFill>
                  <a:schemeClr val="bg1"/>
                </a:solidFill>
                <a:latin typeface="Times New Roman" panose="02020603050405020304" pitchFamily="18" charset="0"/>
                <a:cs typeface="Times New Roman" panose="02020603050405020304" pitchFamily="18" charset="0"/>
              </a:rPr>
              <a:t>Compiler Design – CSA1410</a:t>
            </a:r>
            <a:endParaRPr lang="en-IN"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nchor="ctr"/>
          <a:lstStyle/>
          <a:p>
            <a:pPr marL="0" indent="0" algn="l">
              <a:buNone/>
            </a:pPr>
            <a:r>
              <a:rPr lang="en-US" sz="3400" b="1" dirty="0">
                <a:solidFill>
                  <a:schemeClr val="tx2"/>
                </a:solidFill>
                <a:latin typeface="Times New Roman" panose="02020603050405020304" pitchFamily="18" charset="0"/>
                <a:cs typeface="Times New Roman" panose="02020603050405020304" pitchFamily="18" charset="0"/>
              </a:rPr>
              <a:t>What is a Language Processor?</a:t>
            </a:r>
            <a:endParaRPr lang="en-US" sz="3400" dirty="0">
              <a:latin typeface="Times New Roman" panose="02020603050405020304" pitchFamily="18" charset="0"/>
              <a:cs typeface="Times New Roman" panose="02020603050405020304" pitchFamily="18" charset="0"/>
            </a:endParaRPr>
          </a:p>
        </p:txBody>
      </p:sp>
      <p:sp>
        <p:nvSpPr>
          <p:cNvPr id="3" name="Intro bullets"/>
          <p:cNvSpPr txBox="1"/>
          <p:nvPr/>
        </p:nvSpPr>
        <p:spPr>
          <a:xfrm>
            <a:off x="457200" y="1188720"/>
            <a:ext cx="4206240" cy="329184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Software that translates or executes programs written by humans</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Computers only understand machine code (binary)</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Purpose: bridge the gap between source code and the machine</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Three types: compiler, interpreter, assembler</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Each one processes source code differently</a:t>
            </a:r>
            <a:endParaRPr lang="en-US" sz="1600" dirty="0">
              <a:latin typeface="Times New Roman" panose="02020603050405020304" pitchFamily="18" charset="0"/>
              <a:cs typeface="Times New Roman" panose="02020603050405020304" pitchFamily="18" charset="0"/>
            </a:endParaRPr>
          </a:p>
        </p:txBody>
      </p:sp>
      <p:sp>
        <p:nvSpPr>
          <p:cNvPr id="4" name="Source box"/>
          <p:cNvSpPr/>
          <p:nvPr/>
        </p:nvSpPr>
        <p:spPr>
          <a:xfrm>
            <a:off x="5120640" y="1188720"/>
            <a:ext cx="3566160" cy="777240"/>
          </a:xfrm>
          <a:prstGeom prst="rect">
            <a:avLst/>
          </a:prstGeom>
          <a:solidFill>
            <a:schemeClr val="bg2"/>
          </a:solidFill>
          <a:ln w="15875">
            <a:solidFill>
              <a:schemeClr val="accent1"/>
            </a:solidFill>
          </a:ln>
        </p:spPr>
        <p:txBody>
          <a:bodyPr wrap="square" lIns="50800" tIns="50800" rIns="50800" bIns="50800" rtlCol="0" anchor="ctr"/>
          <a:lstStyle/>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Source code</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(C, Python, Assembly)</a:t>
            </a:r>
            <a:endParaRPr lang="en-US" sz="1400" dirty="0">
              <a:latin typeface="Times New Roman" panose="02020603050405020304" pitchFamily="18" charset="0"/>
              <a:cs typeface="Times New Roman" panose="02020603050405020304" pitchFamily="18" charset="0"/>
            </a:endParaRPr>
          </a:p>
        </p:txBody>
      </p:sp>
      <p:sp>
        <p:nvSpPr>
          <p:cNvPr id="5" name="Arrow 1"/>
          <p:cNvSpPr/>
          <p:nvPr/>
        </p:nvSpPr>
        <p:spPr>
          <a:xfrm>
            <a:off x="6720840" y="2011680"/>
            <a:ext cx="365760" cy="365760"/>
          </a:xfrm>
          <a:prstGeom prst="downArrow">
            <a:avLst/>
          </a:prstGeom>
          <a:solidFill>
            <a:schemeClr val="accent2"/>
          </a:solidFill>
          <a:ln w="6350">
            <a:solidFill>
              <a:schemeClr val="accent2"/>
            </a:solidFill>
            <a:prstDash val="solid"/>
          </a:ln>
        </p:spPr>
      </p:sp>
      <p:sp>
        <p:nvSpPr>
          <p:cNvPr id="6" name="Processor box"/>
          <p:cNvSpPr/>
          <p:nvPr/>
        </p:nvSpPr>
        <p:spPr>
          <a:xfrm>
            <a:off x="5120640" y="2423160"/>
            <a:ext cx="3566160" cy="868680"/>
          </a:xfrm>
          <a:prstGeom prst="rect">
            <a:avLst/>
          </a:prstGeom>
          <a:solidFill>
            <a:schemeClr val="accent1"/>
          </a:solidFill>
          <a:ln w="15875">
            <a:solidFill>
              <a:schemeClr val="accent1"/>
            </a:solidFill>
          </a:ln>
        </p:spPr>
        <p:txBody>
          <a:bodyPr wrap="square" lIns="50800" tIns="50800" rIns="50800" bIns="5080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Language Processor</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Compiler / Interpreter / Assembler</a:t>
            </a:r>
            <a:endParaRPr lang="en-US" sz="1400" dirty="0">
              <a:latin typeface="Times New Roman" panose="02020603050405020304" pitchFamily="18" charset="0"/>
              <a:cs typeface="Times New Roman" panose="02020603050405020304" pitchFamily="18" charset="0"/>
            </a:endParaRPr>
          </a:p>
        </p:txBody>
      </p:sp>
      <p:sp>
        <p:nvSpPr>
          <p:cNvPr id="7" name="Arrow 2"/>
          <p:cNvSpPr/>
          <p:nvPr/>
        </p:nvSpPr>
        <p:spPr>
          <a:xfrm>
            <a:off x="6720840" y="3337560"/>
            <a:ext cx="365760" cy="365760"/>
          </a:xfrm>
          <a:prstGeom prst="downArrow">
            <a:avLst/>
          </a:prstGeom>
          <a:solidFill>
            <a:schemeClr val="accent2"/>
          </a:solidFill>
          <a:ln w="6350">
            <a:solidFill>
              <a:schemeClr val="accent2"/>
            </a:solidFill>
            <a:prstDash val="solid"/>
          </a:ln>
        </p:spPr>
      </p:sp>
      <p:sp>
        <p:nvSpPr>
          <p:cNvPr id="8" name="Output box"/>
          <p:cNvSpPr/>
          <p:nvPr/>
        </p:nvSpPr>
        <p:spPr>
          <a:xfrm>
            <a:off x="5120640" y="3749040"/>
            <a:ext cx="3566160" cy="731520"/>
          </a:xfrm>
          <a:prstGeom prst="rect">
            <a:avLst/>
          </a:prstGeom>
          <a:solidFill>
            <a:schemeClr val="bg2"/>
          </a:solidFill>
          <a:ln w="15875">
            <a:solidFill>
              <a:schemeClr val="accent1"/>
            </a:solidFill>
          </a:ln>
        </p:spPr>
        <p:txBody>
          <a:bodyPr wrap="square" lIns="50800" tIns="50800" rIns="50800" bIns="50800" rtlCol="0" anchor="ctr"/>
          <a:lstStyle/>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Machine code / Output</a:t>
            </a:r>
            <a:endParaRPr lang="en-US" sz="14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nchor="ctr"/>
          <a:lstStyle/>
          <a:p>
            <a:pPr marL="0" indent="0" algn="l">
              <a:buNone/>
            </a:pPr>
            <a:r>
              <a:rPr lang="en-US" sz="3400" b="1" dirty="0">
                <a:solidFill>
                  <a:schemeClr val="tx2"/>
                </a:solidFill>
                <a:latin typeface="Times New Roman" panose="02020603050405020304" pitchFamily="18" charset="0"/>
                <a:cs typeface="Times New Roman" panose="02020603050405020304" pitchFamily="18" charset="0"/>
              </a:rPr>
              <a:t>Compiler</a:t>
            </a:r>
            <a:endParaRPr lang="en-US" sz="3400" dirty="0">
              <a:latin typeface="Times New Roman" panose="02020603050405020304" pitchFamily="18" charset="0"/>
              <a:cs typeface="Times New Roman" panose="02020603050405020304" pitchFamily="18" charset="0"/>
            </a:endParaRPr>
          </a:p>
        </p:txBody>
      </p:sp>
      <p:sp>
        <p:nvSpPr>
          <p:cNvPr id="3" name="Compiler bullets"/>
          <p:cNvSpPr txBox="1"/>
          <p:nvPr/>
        </p:nvSpPr>
        <p:spPr>
          <a:xfrm>
            <a:off x="457200" y="1188720"/>
            <a:ext cx="4114800" cy="22860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Translates the whole program at once</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Checks syntax, then generates machine code</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Produces an executable file (.exe / a.out)</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Run the file many times without recompiling</a:t>
            </a:r>
            <a:endParaRPr lang="en-US" sz="1600" dirty="0">
              <a:latin typeface="Times New Roman" panose="02020603050405020304" pitchFamily="18" charset="0"/>
              <a:cs typeface="Times New Roman" panose="02020603050405020304" pitchFamily="18" charset="0"/>
            </a:endParaRPr>
          </a:p>
        </p:txBody>
      </p:sp>
      <p:sp>
        <p:nvSpPr>
          <p:cNvPr id="4" name="C code label"/>
          <p:cNvSpPr txBox="1"/>
          <p:nvPr/>
        </p:nvSpPr>
        <p:spPr>
          <a:xfrm>
            <a:off x="4846320" y="1143000"/>
            <a:ext cx="3840480" cy="274320"/>
          </a:xfrm>
          <a:prstGeom prst="rect">
            <a:avLst/>
          </a:prstGeom>
          <a:noFill/>
          <a:ln/>
        </p:spPr>
        <p:txBody>
          <a:bodyPr wrap="square" lIns="0" tIns="0" rIns="0" bIns="0" rtlCol="0" anchor="ctr"/>
          <a:lstStyle/>
          <a:p>
            <a:pPr marL="0" indent="0">
              <a:buNone/>
            </a:pPr>
            <a:r>
              <a:rPr lang="en-US" sz="1200" i="1" dirty="0">
                <a:solidFill>
                  <a:schemeClr val="accent5"/>
                </a:solidFill>
              </a:rPr>
              <a:t>C example (hello.c)</a:t>
            </a:r>
            <a:endParaRPr lang="en-US" sz="1200" dirty="0"/>
          </a:p>
        </p:txBody>
      </p:sp>
      <p:sp>
        <p:nvSpPr>
          <p:cNvPr id="5" name="C code"/>
          <p:cNvSpPr/>
          <p:nvPr/>
        </p:nvSpPr>
        <p:spPr>
          <a:xfrm>
            <a:off x="4846320" y="1435608"/>
            <a:ext cx="3840480" cy="2039112"/>
          </a:xfrm>
          <a:prstGeom prst="rect">
            <a:avLst/>
          </a:prstGeom>
          <a:solidFill>
            <a:schemeClr val="bg2"/>
          </a:solidFill>
          <a:ln w="12700">
            <a:solidFill>
              <a:schemeClr val="accent3"/>
            </a:solidFill>
          </a:ln>
        </p:spPr>
        <p:txBody>
          <a:bodyPr wrap="square" lIns="127000" tIns="127000" rIns="127000" bIns="127000" rtlCol="0" anchor="t"/>
          <a:lstStyle/>
          <a:p>
            <a:pPr marL="0" indent="0">
              <a:buNone/>
            </a:pPr>
            <a:r>
              <a:rPr lang="en-US" sz="1400" dirty="0">
                <a:solidFill>
                  <a:schemeClr val="tx1"/>
                </a:solidFill>
                <a:latin typeface="Courier New" pitchFamily="34" charset="0"/>
                <a:ea typeface="Courier New" pitchFamily="34" charset="-122"/>
                <a:cs typeface="Courier New" pitchFamily="34" charset="-120"/>
              </a:rPr>
              <a:t>#include &lt;stdio.h&gt;</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int main() {</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printf("Hello");</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return 0;</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gcc hello.c -o hello</a:t>
            </a:r>
            <a:endParaRPr lang="en-US" sz="1400" dirty="0"/>
          </a:p>
        </p:txBody>
      </p:sp>
      <p:sp>
        <p:nvSpPr>
          <p:cNvPr id="6" name="Compiler flow 1"/>
          <p:cNvSpPr/>
          <p:nvPr/>
        </p:nvSpPr>
        <p:spPr>
          <a:xfrm>
            <a:off x="457200" y="3794760"/>
            <a:ext cx="1691640" cy="731520"/>
          </a:xfrm>
          <a:prstGeom prst="rect">
            <a:avLst/>
          </a:prstGeom>
          <a:solidFill>
            <a:schemeClr val="bg2"/>
          </a:solidFill>
          <a:ln w="15875">
            <a:solidFill>
              <a:schemeClr val="accent1"/>
            </a:solidFill>
          </a:ln>
        </p:spPr>
        <p:txBody>
          <a:bodyPr wrap="square" lIns="50800" tIns="50800" rIns="50800" bIns="50800" rtlCol="0" anchor="ctr"/>
          <a:lstStyle/>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hello.c</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(source code)</a:t>
            </a:r>
            <a:endParaRPr lang="en-US" sz="1400" dirty="0">
              <a:latin typeface="Times New Roman" panose="02020603050405020304" pitchFamily="18" charset="0"/>
              <a:cs typeface="Times New Roman" panose="02020603050405020304" pitchFamily="18" charset="0"/>
            </a:endParaRPr>
          </a:p>
        </p:txBody>
      </p:sp>
      <p:sp>
        <p:nvSpPr>
          <p:cNvPr id="7" name="Compiler arrow 1"/>
          <p:cNvSpPr/>
          <p:nvPr/>
        </p:nvSpPr>
        <p:spPr>
          <a:xfrm>
            <a:off x="2221992" y="3977640"/>
            <a:ext cx="356616" cy="365760"/>
          </a:xfrm>
          <a:prstGeom prst="rightArrow">
            <a:avLst/>
          </a:prstGeom>
          <a:solidFill>
            <a:schemeClr val="accent2"/>
          </a:solidFill>
          <a:ln w="6350">
            <a:solidFill>
              <a:schemeClr val="accent2"/>
            </a:solidFill>
            <a:prstDash val="solid"/>
          </a:ln>
        </p:spPr>
      </p:sp>
      <p:sp>
        <p:nvSpPr>
          <p:cNvPr id="8" name="Compiler flow 2"/>
          <p:cNvSpPr/>
          <p:nvPr/>
        </p:nvSpPr>
        <p:spPr>
          <a:xfrm>
            <a:off x="2651760" y="3794760"/>
            <a:ext cx="1691640" cy="731520"/>
          </a:xfrm>
          <a:prstGeom prst="rect">
            <a:avLst/>
          </a:prstGeom>
          <a:solidFill>
            <a:schemeClr val="accent1"/>
          </a:solidFill>
          <a:ln w="15875">
            <a:solidFill>
              <a:schemeClr val="accent1"/>
            </a:solidFill>
          </a:ln>
        </p:spPr>
        <p:txBody>
          <a:bodyPr wrap="square" lIns="50800" tIns="50800" rIns="50800" bIns="5080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Compiler</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(gcc)</a:t>
            </a:r>
            <a:endParaRPr lang="en-US" sz="1400" dirty="0">
              <a:latin typeface="Times New Roman" panose="02020603050405020304" pitchFamily="18" charset="0"/>
              <a:cs typeface="Times New Roman" panose="02020603050405020304" pitchFamily="18" charset="0"/>
            </a:endParaRPr>
          </a:p>
        </p:txBody>
      </p:sp>
      <p:sp>
        <p:nvSpPr>
          <p:cNvPr id="9" name="Compiler arrow 2"/>
          <p:cNvSpPr/>
          <p:nvPr/>
        </p:nvSpPr>
        <p:spPr>
          <a:xfrm>
            <a:off x="4416552" y="3977640"/>
            <a:ext cx="356616" cy="365760"/>
          </a:xfrm>
          <a:prstGeom prst="rightArrow">
            <a:avLst/>
          </a:prstGeom>
          <a:solidFill>
            <a:schemeClr val="accent2"/>
          </a:solidFill>
          <a:ln w="6350">
            <a:solidFill>
              <a:schemeClr val="accent2"/>
            </a:solidFill>
            <a:prstDash val="solid"/>
          </a:ln>
        </p:spPr>
      </p:sp>
      <p:sp>
        <p:nvSpPr>
          <p:cNvPr id="10" name="Compiler flow 3"/>
          <p:cNvSpPr/>
          <p:nvPr/>
        </p:nvSpPr>
        <p:spPr>
          <a:xfrm>
            <a:off x="4846320" y="3794760"/>
            <a:ext cx="1691640" cy="731520"/>
          </a:xfrm>
          <a:prstGeom prst="rect">
            <a:avLst/>
          </a:prstGeom>
          <a:solidFill>
            <a:schemeClr val="bg2"/>
          </a:solidFill>
          <a:ln w="15875">
            <a:solidFill>
              <a:schemeClr val="accent1"/>
            </a:solidFill>
          </a:ln>
        </p:spPr>
        <p:txBody>
          <a:bodyPr wrap="square" lIns="50800" tIns="50800" rIns="50800" bIns="50800" rtlCol="0" anchor="ctr"/>
          <a:lstStyle/>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Executable</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(hello / hello.exe)</a:t>
            </a:r>
            <a:endParaRPr lang="en-US" sz="1400" dirty="0">
              <a:latin typeface="Times New Roman" panose="02020603050405020304" pitchFamily="18" charset="0"/>
              <a:cs typeface="Times New Roman" panose="02020603050405020304" pitchFamily="18" charset="0"/>
            </a:endParaRPr>
          </a:p>
        </p:txBody>
      </p:sp>
      <p:sp>
        <p:nvSpPr>
          <p:cNvPr id="11" name="Compiler arrow 3"/>
          <p:cNvSpPr/>
          <p:nvPr/>
        </p:nvSpPr>
        <p:spPr>
          <a:xfrm>
            <a:off x="6611112" y="3977640"/>
            <a:ext cx="356616" cy="365760"/>
          </a:xfrm>
          <a:prstGeom prst="rightArrow">
            <a:avLst/>
          </a:prstGeom>
          <a:solidFill>
            <a:schemeClr val="accent2"/>
          </a:solidFill>
          <a:ln w="6350">
            <a:solidFill>
              <a:schemeClr val="accent2"/>
            </a:solidFill>
            <a:prstDash val="solid"/>
          </a:ln>
        </p:spPr>
      </p:sp>
      <p:sp>
        <p:nvSpPr>
          <p:cNvPr id="12" name="Compiler flow 4"/>
          <p:cNvSpPr/>
          <p:nvPr/>
        </p:nvSpPr>
        <p:spPr>
          <a:xfrm>
            <a:off x="7040880" y="3794760"/>
            <a:ext cx="1691640" cy="731520"/>
          </a:xfrm>
          <a:prstGeom prst="rect">
            <a:avLst/>
          </a:prstGeom>
          <a:solidFill>
            <a:schemeClr val="bg2"/>
          </a:solidFill>
          <a:ln w="15875">
            <a:solidFill>
              <a:schemeClr val="accent1"/>
            </a:solidFill>
          </a:ln>
        </p:spPr>
        <p:txBody>
          <a:bodyPr wrap="square" lIns="50800" tIns="50800" rIns="50800" bIns="50800" rtlCol="0" anchor="ctr"/>
          <a:lstStyle/>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Output</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Hello</a:t>
            </a:r>
            <a:endParaRPr lang="en-US" sz="14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nchor="ctr"/>
          <a:lstStyle/>
          <a:p>
            <a:pPr marL="0" indent="0" algn="l">
              <a:buNone/>
            </a:pPr>
            <a:r>
              <a:rPr lang="en-US" sz="3400" b="1" dirty="0">
                <a:solidFill>
                  <a:schemeClr val="tx2"/>
                </a:solidFill>
                <a:latin typeface="Times New Roman" panose="02020603050405020304" pitchFamily="18" charset="0"/>
                <a:cs typeface="Times New Roman" panose="02020603050405020304" pitchFamily="18" charset="0"/>
              </a:rPr>
              <a:t>Interpreter</a:t>
            </a:r>
            <a:endParaRPr lang="en-US" sz="3400" dirty="0">
              <a:latin typeface="Times New Roman" panose="02020603050405020304" pitchFamily="18" charset="0"/>
              <a:cs typeface="Times New Roman" panose="02020603050405020304" pitchFamily="18" charset="0"/>
            </a:endParaRPr>
          </a:p>
        </p:txBody>
      </p:sp>
      <p:sp>
        <p:nvSpPr>
          <p:cNvPr id="3" name="Interpreter bullets"/>
          <p:cNvSpPr txBox="1"/>
          <p:nvPr/>
        </p:nvSpPr>
        <p:spPr>
          <a:xfrm>
            <a:off x="480060" y="1165860"/>
            <a:ext cx="4114800" cy="22860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Reads and executes code line by line</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No separate executable file is created</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Stops at the first error it finds</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Easy to test and debug, but slower to run</a:t>
            </a:r>
            <a:endParaRPr lang="en-US" sz="1600" dirty="0">
              <a:latin typeface="Times New Roman" panose="02020603050405020304" pitchFamily="18" charset="0"/>
              <a:cs typeface="Times New Roman" panose="02020603050405020304" pitchFamily="18" charset="0"/>
            </a:endParaRPr>
          </a:p>
        </p:txBody>
      </p:sp>
      <p:sp>
        <p:nvSpPr>
          <p:cNvPr id="4" name="Python code label"/>
          <p:cNvSpPr txBox="1"/>
          <p:nvPr/>
        </p:nvSpPr>
        <p:spPr>
          <a:xfrm>
            <a:off x="4846320" y="1143000"/>
            <a:ext cx="3840480" cy="274320"/>
          </a:xfrm>
          <a:prstGeom prst="rect">
            <a:avLst/>
          </a:prstGeom>
          <a:noFill/>
          <a:ln/>
        </p:spPr>
        <p:txBody>
          <a:bodyPr wrap="square" lIns="0" tIns="0" rIns="0" bIns="0" rtlCol="0" anchor="ctr"/>
          <a:lstStyle/>
          <a:p>
            <a:pPr marL="0" indent="0">
              <a:buNone/>
            </a:pPr>
            <a:r>
              <a:rPr lang="en-US" sz="1200" i="1" dirty="0">
                <a:solidFill>
                  <a:schemeClr val="accent5"/>
                </a:solidFill>
              </a:rPr>
              <a:t>Python example (demo.py)</a:t>
            </a:r>
            <a:endParaRPr lang="en-US" sz="1200" dirty="0"/>
          </a:p>
        </p:txBody>
      </p:sp>
      <p:sp>
        <p:nvSpPr>
          <p:cNvPr id="5" name="Python code"/>
          <p:cNvSpPr/>
          <p:nvPr/>
        </p:nvSpPr>
        <p:spPr>
          <a:xfrm>
            <a:off x="4846320" y="1435608"/>
            <a:ext cx="3840480" cy="2039112"/>
          </a:xfrm>
          <a:prstGeom prst="rect">
            <a:avLst/>
          </a:prstGeom>
          <a:solidFill>
            <a:schemeClr val="bg2"/>
          </a:solidFill>
          <a:ln w="12700">
            <a:solidFill>
              <a:schemeClr val="accent3"/>
            </a:solidFill>
          </a:ln>
        </p:spPr>
        <p:txBody>
          <a:bodyPr wrap="square" lIns="127000" tIns="127000" rIns="127000" bIns="127000" rtlCol="0" anchor="t"/>
          <a:lstStyle/>
          <a:p>
            <a:pPr marL="0" indent="0">
              <a:buNone/>
            </a:pPr>
            <a:r>
              <a:rPr lang="en-US" sz="1400" dirty="0">
                <a:solidFill>
                  <a:schemeClr val="tx1"/>
                </a:solidFill>
                <a:latin typeface="Courier New" pitchFamily="34" charset="0"/>
                <a:ea typeface="Courier New" pitchFamily="34" charset="-122"/>
                <a:cs typeface="Courier New" pitchFamily="34" charset="-120"/>
              </a:rPr>
              <a:t>x = 5</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y = 3</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print(x + y)</a:t>
            </a:r>
            <a:endParaRPr lang="en-US" sz="1400" dirty="0"/>
          </a:p>
          <a:p>
            <a:pPr marL="0" indent="0">
              <a:buNone/>
            </a:pP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Output: 8</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python demo.py</a:t>
            </a:r>
            <a:endParaRPr lang="en-US" sz="1400" dirty="0"/>
          </a:p>
        </p:txBody>
      </p:sp>
      <p:sp>
        <p:nvSpPr>
          <p:cNvPr id="6" name="Interpreter flow 1"/>
          <p:cNvSpPr/>
          <p:nvPr/>
        </p:nvSpPr>
        <p:spPr>
          <a:xfrm>
            <a:off x="457200" y="3794760"/>
            <a:ext cx="1691640" cy="731520"/>
          </a:xfrm>
          <a:prstGeom prst="rect">
            <a:avLst/>
          </a:prstGeom>
          <a:solidFill>
            <a:schemeClr val="bg2"/>
          </a:solidFill>
          <a:ln w="15875">
            <a:solidFill>
              <a:schemeClr val="accent1"/>
            </a:solidFill>
          </a:ln>
        </p:spPr>
        <p:txBody>
          <a:bodyPr wrap="square" lIns="50800" tIns="50800" rIns="50800" bIns="50800" rtlCol="0" anchor="ctr"/>
          <a:lstStyle/>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Read one line</a:t>
            </a:r>
            <a:endParaRPr lang="en-US" sz="1400" dirty="0">
              <a:latin typeface="Times New Roman" panose="02020603050405020304" pitchFamily="18" charset="0"/>
              <a:cs typeface="Times New Roman" panose="02020603050405020304" pitchFamily="18" charset="0"/>
            </a:endParaRPr>
          </a:p>
        </p:txBody>
      </p:sp>
      <p:sp>
        <p:nvSpPr>
          <p:cNvPr id="7" name="Interpreter arrow 1"/>
          <p:cNvSpPr/>
          <p:nvPr/>
        </p:nvSpPr>
        <p:spPr>
          <a:xfrm>
            <a:off x="2221992" y="3977640"/>
            <a:ext cx="356616" cy="365760"/>
          </a:xfrm>
          <a:prstGeom prst="rightArrow">
            <a:avLst/>
          </a:prstGeom>
          <a:solidFill>
            <a:schemeClr val="accent2"/>
          </a:solidFill>
          <a:ln w="6350">
            <a:solidFill>
              <a:schemeClr val="accent2"/>
            </a:solidFill>
            <a:prstDash val="solid"/>
          </a:ln>
        </p:spPr>
      </p:sp>
      <p:sp>
        <p:nvSpPr>
          <p:cNvPr id="8" name="Interpreter flow 2"/>
          <p:cNvSpPr/>
          <p:nvPr/>
        </p:nvSpPr>
        <p:spPr>
          <a:xfrm>
            <a:off x="2651760" y="3794760"/>
            <a:ext cx="1691640" cy="731520"/>
          </a:xfrm>
          <a:prstGeom prst="rect">
            <a:avLst/>
          </a:prstGeom>
          <a:solidFill>
            <a:schemeClr val="accent1"/>
          </a:solidFill>
          <a:ln w="15875">
            <a:solidFill>
              <a:schemeClr val="accent1"/>
            </a:solidFill>
          </a:ln>
        </p:spPr>
        <p:txBody>
          <a:bodyPr wrap="square" lIns="50800" tIns="50800" rIns="50800" bIns="5080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Interpreter</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translates it</a:t>
            </a:r>
            <a:endParaRPr lang="en-US" sz="1400" dirty="0">
              <a:latin typeface="Times New Roman" panose="02020603050405020304" pitchFamily="18" charset="0"/>
              <a:cs typeface="Times New Roman" panose="02020603050405020304" pitchFamily="18" charset="0"/>
            </a:endParaRPr>
          </a:p>
        </p:txBody>
      </p:sp>
      <p:sp>
        <p:nvSpPr>
          <p:cNvPr id="9" name="Interpreter arrow 2"/>
          <p:cNvSpPr/>
          <p:nvPr/>
        </p:nvSpPr>
        <p:spPr>
          <a:xfrm>
            <a:off x="4416552" y="3977640"/>
            <a:ext cx="356616" cy="365760"/>
          </a:xfrm>
          <a:prstGeom prst="rightArrow">
            <a:avLst/>
          </a:prstGeom>
          <a:solidFill>
            <a:schemeClr val="accent2"/>
          </a:solidFill>
          <a:ln w="6350">
            <a:solidFill>
              <a:schemeClr val="accent2"/>
            </a:solidFill>
            <a:prstDash val="solid"/>
          </a:ln>
        </p:spPr>
      </p:sp>
      <p:sp>
        <p:nvSpPr>
          <p:cNvPr id="10" name="Interpreter flow 3"/>
          <p:cNvSpPr/>
          <p:nvPr/>
        </p:nvSpPr>
        <p:spPr>
          <a:xfrm>
            <a:off x="4846320" y="3794760"/>
            <a:ext cx="1691640" cy="731520"/>
          </a:xfrm>
          <a:prstGeom prst="rect">
            <a:avLst/>
          </a:prstGeom>
          <a:solidFill>
            <a:schemeClr val="bg2"/>
          </a:solidFill>
          <a:ln w="15875">
            <a:solidFill>
              <a:schemeClr val="accent1"/>
            </a:solidFill>
          </a:ln>
        </p:spPr>
        <p:txBody>
          <a:bodyPr wrap="square" lIns="50800" tIns="50800" rIns="50800" bIns="50800" rtlCol="0" anchor="ctr"/>
          <a:lstStyle/>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Execute it</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immediately</a:t>
            </a:r>
            <a:endParaRPr lang="en-US" sz="1400" dirty="0">
              <a:latin typeface="Times New Roman" panose="02020603050405020304" pitchFamily="18" charset="0"/>
              <a:cs typeface="Times New Roman" panose="02020603050405020304" pitchFamily="18" charset="0"/>
            </a:endParaRPr>
          </a:p>
        </p:txBody>
      </p:sp>
      <p:sp>
        <p:nvSpPr>
          <p:cNvPr id="11" name="Interpreter arrow 3"/>
          <p:cNvSpPr/>
          <p:nvPr/>
        </p:nvSpPr>
        <p:spPr>
          <a:xfrm>
            <a:off x="6611112" y="3977640"/>
            <a:ext cx="356616" cy="365760"/>
          </a:xfrm>
          <a:prstGeom prst="rightArrow">
            <a:avLst/>
          </a:prstGeom>
          <a:solidFill>
            <a:schemeClr val="accent2"/>
          </a:solidFill>
          <a:ln w="6350">
            <a:solidFill>
              <a:schemeClr val="accent2"/>
            </a:solidFill>
            <a:prstDash val="solid"/>
          </a:ln>
        </p:spPr>
      </p:sp>
      <p:sp>
        <p:nvSpPr>
          <p:cNvPr id="12" name="Interpreter flow 4"/>
          <p:cNvSpPr/>
          <p:nvPr/>
        </p:nvSpPr>
        <p:spPr>
          <a:xfrm>
            <a:off x="7040880" y="3794760"/>
            <a:ext cx="1691640" cy="731520"/>
          </a:xfrm>
          <a:prstGeom prst="rect">
            <a:avLst/>
          </a:prstGeom>
          <a:solidFill>
            <a:schemeClr val="bg2"/>
          </a:solidFill>
          <a:ln w="15875">
            <a:solidFill>
              <a:schemeClr val="accent1"/>
            </a:solidFill>
          </a:ln>
        </p:spPr>
        <p:txBody>
          <a:bodyPr wrap="square" lIns="50800" tIns="50800" rIns="50800" bIns="50800" rtlCol="0" anchor="ctr"/>
          <a:lstStyle/>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Go to the</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next line</a:t>
            </a:r>
            <a:endParaRPr lang="en-US" sz="14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nchor="ctr"/>
          <a:lstStyle/>
          <a:p>
            <a:pPr marL="0" indent="0" algn="l">
              <a:buNone/>
            </a:pPr>
            <a:r>
              <a:rPr lang="en-US" sz="3400" b="1" dirty="0">
                <a:solidFill>
                  <a:schemeClr val="tx2"/>
                </a:solidFill>
                <a:latin typeface="Times New Roman" panose="02020603050405020304" pitchFamily="18" charset="0"/>
                <a:cs typeface="Times New Roman" panose="02020603050405020304" pitchFamily="18" charset="0"/>
              </a:rPr>
              <a:t>Assembler</a:t>
            </a:r>
            <a:endParaRPr lang="en-US" sz="3400" dirty="0">
              <a:latin typeface="Times New Roman" panose="02020603050405020304" pitchFamily="18" charset="0"/>
              <a:cs typeface="Times New Roman" panose="02020603050405020304" pitchFamily="18" charset="0"/>
            </a:endParaRPr>
          </a:p>
        </p:txBody>
      </p:sp>
      <p:sp>
        <p:nvSpPr>
          <p:cNvPr id="3" name="Assembler bullets"/>
          <p:cNvSpPr txBox="1"/>
          <p:nvPr/>
        </p:nvSpPr>
        <p:spPr>
          <a:xfrm>
            <a:off x="457200" y="1188720"/>
            <a:ext cx="3840480" cy="237744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Converts assembly language into machine code</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Uses short mnemonics like MOV and ADD</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One assembly instruction = one machine instruction</a:t>
            </a:r>
            <a:endParaRPr lang="en-US" sz="16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Output: machine code (object file)</a:t>
            </a:r>
            <a:endParaRPr lang="en-US" sz="1600" dirty="0">
              <a:latin typeface="Times New Roman" panose="02020603050405020304" pitchFamily="18" charset="0"/>
              <a:cs typeface="Times New Roman" panose="02020603050405020304" pitchFamily="18" charset="0"/>
            </a:endParaRPr>
          </a:p>
        </p:txBody>
      </p:sp>
      <p:sp>
        <p:nvSpPr>
          <p:cNvPr id="4" name="Table label"/>
          <p:cNvSpPr txBox="1"/>
          <p:nvPr/>
        </p:nvSpPr>
        <p:spPr>
          <a:xfrm>
            <a:off x="4663440" y="1143000"/>
            <a:ext cx="4023360" cy="274320"/>
          </a:xfrm>
          <a:prstGeom prst="rect">
            <a:avLst/>
          </a:prstGeom>
          <a:noFill/>
          <a:ln/>
        </p:spPr>
        <p:txBody>
          <a:bodyPr wrap="square" lIns="0" tIns="0" rIns="0" bIns="0" rtlCol="0" anchor="ctr"/>
          <a:lstStyle/>
          <a:p>
            <a:pPr marL="0" indent="0">
              <a:buNone/>
            </a:pPr>
            <a:r>
              <a:rPr lang="en-US" sz="1200" i="1" dirty="0">
                <a:solidFill>
                  <a:schemeClr val="accent5"/>
                </a:solidFill>
              </a:rPr>
              <a:t>x86 (16-bit) example</a:t>
            </a:r>
            <a:endParaRPr lang="en-US" sz="1200" dirty="0"/>
          </a:p>
        </p:txBody>
      </p:sp>
      <p:graphicFrame>
        <p:nvGraphicFramePr>
          <p:cNvPr id="6" name="MOV ADD table"/>
          <p:cNvGraphicFramePr>
            <a:graphicFrameLocks noGrp="1"/>
          </p:cNvGraphicFramePr>
          <p:nvPr>
            <p:extLst>
              <p:ext uri="{D42A27DB-BD31-4B8C-83A1-F6EECF244321}">
                <p14:modId xmlns:p14="http://schemas.microsoft.com/office/powerpoint/2010/main" val="1579011935"/>
              </p:ext>
            </p:extLst>
          </p:nvPr>
        </p:nvGraphicFramePr>
        <p:xfrm>
          <a:off x="4663440" y="1463040"/>
          <a:ext cx="4023360" cy="1645920"/>
        </p:xfrm>
        <a:graphic>
          <a:graphicData uri="http://schemas.openxmlformats.org/drawingml/2006/table">
            <a:tbl>
              <a:tblPr/>
              <a:tblGrid>
                <a:gridCol w="12801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chemeClr val="bg1"/>
                          </a:solidFill>
                        </a:rPr>
                        <a:t>Assembly</a:t>
                      </a:r>
                      <a:endParaRPr lang="en-US" sz="1400" dirty="0"/>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1"/>
                    </a:solidFill>
                  </a:tcPr>
                </a:tc>
                <a:tc>
                  <a:txBody>
                    <a:bodyPr/>
                    <a:lstStyle/>
                    <a:p>
                      <a:pPr marL="0" indent="0" algn="l">
                        <a:buNone/>
                      </a:pPr>
                      <a:r>
                        <a:rPr lang="en-US" sz="1400" b="1" dirty="0">
                          <a:solidFill>
                            <a:schemeClr val="bg1"/>
                          </a:solidFill>
                        </a:rPr>
                        <a:t>Machine code</a:t>
                      </a:r>
                      <a:endParaRPr lang="en-US" sz="1400" dirty="0"/>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1"/>
                    </a:solidFill>
                  </a:tcPr>
                </a:tc>
                <a:tc>
                  <a:txBody>
                    <a:bodyPr/>
                    <a:lstStyle/>
                    <a:p>
                      <a:pPr marL="0" indent="0" algn="l">
                        <a:buNone/>
                      </a:pPr>
                      <a:r>
                        <a:rPr lang="en-US" sz="1400" b="1" dirty="0">
                          <a:solidFill>
                            <a:schemeClr val="bg1"/>
                          </a:solidFill>
                        </a:rPr>
                        <a:t>Meaning</a:t>
                      </a:r>
                      <a:endParaRPr lang="en-US" sz="1400" dirty="0"/>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94360">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MOV AX, 5</a:t>
                      </a:r>
                      <a:endParaRPr lang="en-US" sz="1400" dirty="0">
                        <a:latin typeface="Courier New" charset="0"/>
                        <a:ea typeface="Courier New" charset="0"/>
                        <a:cs typeface="Courier New"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B8 05 00</a:t>
                      </a:r>
                      <a:endParaRPr lang="en-US" sz="1400" dirty="0">
                        <a:latin typeface="Courier New" charset="0"/>
                        <a:ea typeface="Courier New" charset="0"/>
                        <a:cs typeface="Courier New"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Load 5 into AX</a:t>
                      </a:r>
                      <a:endParaRPr lang="en-US" sz="1400" dirty="0"/>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94360">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ADD AX, 3</a:t>
                      </a:r>
                      <a:endParaRPr lang="en-US" sz="1400" dirty="0">
                        <a:latin typeface="Courier New" charset="0"/>
                        <a:ea typeface="Courier New" charset="0"/>
                        <a:cs typeface="Courier New"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05 03 00</a:t>
                      </a:r>
                      <a:endParaRPr lang="en-US" sz="1400" dirty="0">
                        <a:latin typeface="Courier New" charset="0"/>
                        <a:ea typeface="Courier New" charset="0"/>
                        <a:cs typeface="Courier New"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Add 3 to AX</a:t>
                      </a:r>
                      <a:endParaRPr lang="en-US" sz="1400" dirty="0"/>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5" name="Table note"/>
          <p:cNvSpPr txBox="1"/>
          <p:nvPr/>
        </p:nvSpPr>
        <p:spPr>
          <a:xfrm>
            <a:off x="4663440" y="3200400"/>
            <a:ext cx="4023360" cy="274320"/>
          </a:xfrm>
          <a:prstGeom prst="rect">
            <a:avLst/>
          </a:prstGeom>
          <a:noFill/>
          <a:ln/>
        </p:spPr>
        <p:txBody>
          <a:bodyPr wrap="square" lIns="0" tIns="0" rIns="0" bIns="0" rtlCol="0" anchor="ctr"/>
          <a:lstStyle/>
          <a:p>
            <a:pPr marL="0" indent="0">
              <a:buNone/>
            </a:pPr>
            <a:r>
              <a:rPr lang="en-US" sz="1200" i="1" dirty="0">
                <a:solidFill>
                  <a:schemeClr val="accent5"/>
                </a:solidFill>
              </a:rPr>
              <a:t>Machine code shown in hexadecimal</a:t>
            </a:r>
            <a:endParaRPr lang="en-US" sz="1200" dirty="0"/>
          </a:p>
        </p:txBody>
      </p:sp>
      <p:sp>
        <p:nvSpPr>
          <p:cNvPr id="7" name="Assembler flow 1"/>
          <p:cNvSpPr/>
          <p:nvPr/>
        </p:nvSpPr>
        <p:spPr>
          <a:xfrm>
            <a:off x="457200" y="3794760"/>
            <a:ext cx="2286000" cy="731520"/>
          </a:xfrm>
          <a:prstGeom prst="rect">
            <a:avLst/>
          </a:prstGeom>
          <a:solidFill>
            <a:schemeClr val="bg2"/>
          </a:solidFill>
          <a:ln w="15875">
            <a:solidFill>
              <a:schemeClr val="accent1"/>
            </a:solidFill>
          </a:ln>
        </p:spPr>
        <p:txBody>
          <a:bodyPr wrap="square" lIns="50800" tIns="50800" rIns="50800" bIns="50800" rtlCol="0" anchor="ctr"/>
          <a:lstStyle/>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Assembly code</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(.asm file)</a:t>
            </a:r>
            <a:endParaRPr lang="en-US" sz="1400" dirty="0">
              <a:latin typeface="Times New Roman" panose="02020603050405020304" pitchFamily="18" charset="0"/>
              <a:cs typeface="Times New Roman" panose="02020603050405020304" pitchFamily="18" charset="0"/>
            </a:endParaRPr>
          </a:p>
        </p:txBody>
      </p:sp>
      <p:sp>
        <p:nvSpPr>
          <p:cNvPr id="8" name="Assembler arrow 1"/>
          <p:cNvSpPr/>
          <p:nvPr/>
        </p:nvSpPr>
        <p:spPr>
          <a:xfrm>
            <a:off x="2852928" y="3977640"/>
            <a:ext cx="466344" cy="365760"/>
          </a:xfrm>
          <a:prstGeom prst="rightArrow">
            <a:avLst/>
          </a:prstGeom>
          <a:solidFill>
            <a:schemeClr val="accent2"/>
          </a:solidFill>
          <a:ln w="6350">
            <a:solidFill>
              <a:schemeClr val="accent2"/>
            </a:solidFill>
            <a:prstDash val="solid"/>
          </a:ln>
        </p:spPr>
      </p:sp>
      <p:sp>
        <p:nvSpPr>
          <p:cNvPr id="9" name="Assembler flow 2"/>
          <p:cNvSpPr/>
          <p:nvPr/>
        </p:nvSpPr>
        <p:spPr>
          <a:xfrm>
            <a:off x="3429000" y="3794760"/>
            <a:ext cx="2286000" cy="731520"/>
          </a:xfrm>
          <a:prstGeom prst="rect">
            <a:avLst/>
          </a:prstGeom>
          <a:solidFill>
            <a:schemeClr val="accent1"/>
          </a:solidFill>
          <a:ln w="15875">
            <a:solidFill>
              <a:schemeClr val="accent1"/>
            </a:solidFill>
          </a:ln>
        </p:spPr>
        <p:txBody>
          <a:bodyPr wrap="square" lIns="50800" tIns="50800" rIns="50800" bIns="5080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Assembler</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(e.g., NASM)</a:t>
            </a:r>
            <a:endParaRPr lang="en-US" sz="1400" dirty="0">
              <a:latin typeface="Times New Roman" panose="02020603050405020304" pitchFamily="18" charset="0"/>
              <a:cs typeface="Times New Roman" panose="02020603050405020304" pitchFamily="18" charset="0"/>
            </a:endParaRPr>
          </a:p>
        </p:txBody>
      </p:sp>
      <p:sp>
        <p:nvSpPr>
          <p:cNvPr id="10" name="Assembler arrow 2"/>
          <p:cNvSpPr/>
          <p:nvPr/>
        </p:nvSpPr>
        <p:spPr>
          <a:xfrm>
            <a:off x="5824728" y="3977640"/>
            <a:ext cx="466344" cy="365760"/>
          </a:xfrm>
          <a:prstGeom prst="rightArrow">
            <a:avLst/>
          </a:prstGeom>
          <a:solidFill>
            <a:schemeClr val="accent2"/>
          </a:solidFill>
          <a:ln w="6350">
            <a:solidFill>
              <a:schemeClr val="accent2"/>
            </a:solidFill>
            <a:prstDash val="solid"/>
          </a:ln>
        </p:spPr>
      </p:sp>
      <p:sp>
        <p:nvSpPr>
          <p:cNvPr id="11" name="Assembler flow 3"/>
          <p:cNvSpPr/>
          <p:nvPr/>
        </p:nvSpPr>
        <p:spPr>
          <a:xfrm>
            <a:off x="6400800" y="3794760"/>
            <a:ext cx="2286000" cy="731520"/>
          </a:xfrm>
          <a:prstGeom prst="rect">
            <a:avLst/>
          </a:prstGeom>
          <a:solidFill>
            <a:schemeClr val="bg2"/>
          </a:solidFill>
          <a:ln w="15875">
            <a:solidFill>
              <a:schemeClr val="accent1"/>
            </a:solidFill>
          </a:ln>
        </p:spPr>
        <p:txBody>
          <a:bodyPr wrap="square" lIns="50800" tIns="50800" rIns="50800" bIns="50800" rtlCol="0" anchor="ctr"/>
          <a:lstStyle/>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Machine code</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chemeClr val="tx2"/>
                </a:solidFill>
                <a:latin typeface="Times New Roman" panose="02020603050405020304" pitchFamily="18" charset="0"/>
                <a:cs typeface="Times New Roman" panose="02020603050405020304" pitchFamily="18" charset="0"/>
              </a:rPr>
              <a:t>(object file)</a:t>
            </a:r>
            <a:endParaRPr lang="en-US" sz="14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nchor="ctr"/>
          <a:lstStyle/>
          <a:p>
            <a:pPr marL="0" indent="0" algn="l">
              <a:buNone/>
            </a:pPr>
            <a:r>
              <a:rPr lang="en-US" sz="3400" b="1" dirty="0">
                <a:solidFill>
                  <a:schemeClr val="tx2"/>
                </a:solidFill>
                <a:latin typeface="Times New Roman" panose="02020603050405020304" pitchFamily="18" charset="0"/>
                <a:cs typeface="Times New Roman" panose="02020603050405020304" pitchFamily="18" charset="0"/>
              </a:rPr>
              <a:t>Comparison and Conclusion</a:t>
            </a:r>
            <a:endParaRPr lang="en-US" sz="3400" dirty="0">
              <a:latin typeface="Times New Roman" panose="02020603050405020304" pitchFamily="18" charset="0"/>
              <a:cs typeface="Times New Roman" panose="02020603050405020304" pitchFamily="18" charset="0"/>
            </a:endParaRPr>
          </a:p>
        </p:txBody>
      </p:sp>
      <p:graphicFrame>
        <p:nvGraphicFramePr>
          <p:cNvPr id="7" name="Comparison table"/>
          <p:cNvGraphicFramePr>
            <a:graphicFrameLocks noGrp="1"/>
          </p:cNvGraphicFramePr>
          <p:nvPr>
            <p:extLst>
              <p:ext uri="{D42A27DB-BD31-4B8C-83A1-F6EECF244321}">
                <p14:modId xmlns:p14="http://schemas.microsoft.com/office/powerpoint/2010/main" val="1620220964"/>
              </p:ext>
            </p:extLst>
          </p:nvPr>
        </p:nvGraphicFramePr>
        <p:xfrm>
          <a:off x="464234" y="1143000"/>
          <a:ext cx="8222566" cy="2304288"/>
        </p:xfrm>
        <a:graphic>
          <a:graphicData uri="http://schemas.openxmlformats.org/drawingml/2006/table">
            <a:tbl>
              <a:tblPr/>
              <a:tblGrid>
                <a:gridCol w="1181686">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84048">
                <a:tc>
                  <a:txBody>
                    <a:bodyPr/>
                    <a:lstStyle/>
                    <a:p>
                      <a:pPr marL="0" indent="0" algn="l">
                        <a:buNone/>
                      </a:pP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1"/>
                    </a:solidFill>
                  </a:tcPr>
                </a:tc>
                <a:tc>
                  <a:txBody>
                    <a:bodyPr/>
                    <a:lstStyle/>
                    <a:p>
                      <a:pPr marL="0" indent="0" algn="l">
                        <a:buNone/>
                      </a:pPr>
                      <a:r>
                        <a:rPr lang="en-US" sz="1400" b="1" dirty="0">
                          <a:solidFill>
                            <a:schemeClr val="bg1"/>
                          </a:solidFill>
                          <a:latin typeface="Times New Roman" panose="02020603050405020304" pitchFamily="18" charset="0"/>
                          <a:cs typeface="Times New Roman" panose="02020603050405020304" pitchFamily="18" charset="0"/>
                        </a:rPr>
                        <a:t>Compiler</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1"/>
                    </a:solidFill>
                  </a:tcPr>
                </a:tc>
                <a:tc>
                  <a:txBody>
                    <a:bodyPr/>
                    <a:lstStyle/>
                    <a:p>
                      <a:pPr marL="0" indent="0" algn="l">
                        <a:buNone/>
                      </a:pPr>
                      <a:r>
                        <a:rPr lang="en-US" sz="1400" b="1" dirty="0">
                          <a:solidFill>
                            <a:schemeClr val="bg1"/>
                          </a:solidFill>
                          <a:latin typeface="Times New Roman" panose="02020603050405020304" pitchFamily="18" charset="0"/>
                          <a:cs typeface="Times New Roman" panose="02020603050405020304" pitchFamily="18" charset="0"/>
                        </a:rPr>
                        <a:t>Interpreter</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1"/>
                    </a:solidFill>
                  </a:tcPr>
                </a:tc>
                <a:tc>
                  <a:txBody>
                    <a:bodyPr/>
                    <a:lstStyle/>
                    <a:p>
                      <a:pPr marL="0" indent="0" algn="l">
                        <a:buNone/>
                      </a:pPr>
                      <a:r>
                        <a:rPr lang="en-US" sz="1400" b="1" dirty="0">
                          <a:solidFill>
                            <a:schemeClr val="bg1"/>
                          </a:solidFill>
                          <a:latin typeface="Times New Roman" panose="02020603050405020304" pitchFamily="18" charset="0"/>
                          <a:cs typeface="Times New Roman" panose="02020603050405020304" pitchFamily="18" charset="0"/>
                        </a:rPr>
                        <a:t>Assembler</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11480">
                <a:tc>
                  <a:txBody>
                    <a:bodyPr/>
                    <a:lstStyle/>
                    <a:p>
                      <a:pPr marL="0" indent="0">
                        <a:buNone/>
                      </a:pPr>
                      <a:r>
                        <a:rPr lang="en-US" sz="1400" b="1" dirty="0">
                          <a:solidFill>
                            <a:schemeClr val="tx2"/>
                          </a:solidFill>
                          <a:latin typeface="Times New Roman" panose="02020603050405020304" pitchFamily="18" charset="0"/>
                          <a:cs typeface="Times New Roman" panose="02020603050405020304" pitchFamily="18" charset="0"/>
                        </a:rPr>
                        <a:t>Input</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4"/>
                    </a:solidFill>
                  </a:tcPr>
                </a:tc>
                <a:tc>
                  <a:txBody>
                    <a:bodyPr/>
                    <a:lstStyle/>
                    <a:p>
                      <a:pPr marL="0" indent="0">
                        <a:buNone/>
                      </a:pPr>
                      <a:r>
                        <a:rPr lang="en-US" sz="1400" dirty="0">
                          <a:solidFill>
                            <a:schemeClr val="tx1"/>
                          </a:solidFill>
                          <a:latin typeface="Times New Roman" panose="02020603050405020304" pitchFamily="18" charset="0"/>
                          <a:cs typeface="Times New Roman" panose="02020603050405020304" pitchFamily="18" charset="0"/>
                        </a:rPr>
                        <a:t>High-level code (C)</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Times New Roman" panose="02020603050405020304" pitchFamily="18" charset="0"/>
                          <a:cs typeface="Times New Roman" panose="02020603050405020304" pitchFamily="18" charset="0"/>
                        </a:rPr>
                        <a:t>High-level code (Python)</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Times New Roman" panose="02020603050405020304" pitchFamily="18" charset="0"/>
                          <a:cs typeface="Times New Roman" panose="02020603050405020304" pitchFamily="18" charset="0"/>
                        </a:rPr>
                        <a:t>Assembly language</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1480">
                <a:tc>
                  <a:txBody>
                    <a:bodyPr/>
                    <a:lstStyle/>
                    <a:p>
                      <a:pPr marL="0" indent="0">
                        <a:buNone/>
                      </a:pPr>
                      <a:r>
                        <a:rPr lang="en-US" sz="1400" b="1" dirty="0">
                          <a:solidFill>
                            <a:schemeClr val="tx2"/>
                          </a:solidFill>
                          <a:latin typeface="Times New Roman" panose="02020603050405020304" pitchFamily="18" charset="0"/>
                          <a:cs typeface="Times New Roman" panose="02020603050405020304" pitchFamily="18" charset="0"/>
                        </a:rPr>
                        <a:t>Output</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4"/>
                    </a:solidFill>
                  </a:tcPr>
                </a:tc>
                <a:tc>
                  <a:txBody>
                    <a:bodyPr/>
                    <a:lstStyle/>
                    <a:p>
                      <a:pPr marL="0" indent="0">
                        <a:buNone/>
                      </a:pPr>
                      <a:r>
                        <a:rPr lang="en-US" sz="1400" dirty="0">
                          <a:solidFill>
                            <a:schemeClr val="tx1"/>
                          </a:solidFill>
                          <a:latin typeface="Times New Roman" panose="02020603050405020304" pitchFamily="18" charset="0"/>
                          <a:cs typeface="Times New Roman" panose="02020603050405020304" pitchFamily="18" charset="0"/>
                        </a:rPr>
                        <a:t>Executable file</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Times New Roman" panose="02020603050405020304" pitchFamily="18" charset="0"/>
                          <a:cs typeface="Times New Roman" panose="02020603050405020304" pitchFamily="18" charset="0"/>
                        </a:rPr>
                        <a:t>Direct results, no file</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Times New Roman" panose="02020603050405020304" pitchFamily="18" charset="0"/>
                          <a:cs typeface="Times New Roman" panose="02020603050405020304" pitchFamily="18" charset="0"/>
                        </a:rPr>
                        <a:t>Machine code</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85800">
                <a:tc>
                  <a:txBody>
                    <a:bodyPr/>
                    <a:lstStyle/>
                    <a:p>
                      <a:pPr marL="0" indent="0">
                        <a:buNone/>
                      </a:pPr>
                      <a:r>
                        <a:rPr lang="en-US" sz="1400" b="1" dirty="0">
                          <a:solidFill>
                            <a:schemeClr val="tx2"/>
                          </a:solidFill>
                          <a:latin typeface="Times New Roman" panose="02020603050405020304" pitchFamily="18" charset="0"/>
                          <a:cs typeface="Times New Roman" panose="02020603050405020304" pitchFamily="18" charset="0"/>
                        </a:rPr>
                        <a:t>Method</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4"/>
                    </a:solidFill>
                  </a:tcPr>
                </a:tc>
                <a:tc>
                  <a:txBody>
                    <a:bodyPr/>
                    <a:lstStyle/>
                    <a:p>
                      <a:pPr marL="0" indent="0">
                        <a:buNone/>
                      </a:pPr>
                      <a:r>
                        <a:rPr lang="en-US" sz="1400" dirty="0">
                          <a:solidFill>
                            <a:schemeClr val="tx1"/>
                          </a:solidFill>
                          <a:latin typeface="Times New Roman" panose="02020603050405020304" pitchFamily="18" charset="0"/>
                          <a:cs typeface="Times New Roman" panose="02020603050405020304" pitchFamily="18" charset="0"/>
                        </a:rPr>
                        <a:t>Translates whole program, then runs</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Times New Roman" panose="02020603050405020304" pitchFamily="18" charset="0"/>
                          <a:cs typeface="Times New Roman" panose="02020603050405020304" pitchFamily="18" charset="0"/>
                        </a:rPr>
                        <a:t>Executes line by line</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Times New Roman" panose="02020603050405020304" pitchFamily="18" charset="0"/>
                          <a:cs typeface="Times New Roman" panose="02020603050405020304" pitchFamily="18" charset="0"/>
                        </a:rPr>
                        <a:t>Converts each instruction to machine code</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indent="0">
                        <a:buNone/>
                      </a:pPr>
                      <a:r>
                        <a:rPr lang="en-US" sz="1400" b="1" dirty="0">
                          <a:solidFill>
                            <a:schemeClr val="tx2"/>
                          </a:solidFill>
                          <a:latin typeface="Times New Roman" panose="02020603050405020304" pitchFamily="18" charset="0"/>
                          <a:cs typeface="Times New Roman" panose="02020603050405020304" pitchFamily="18" charset="0"/>
                        </a:rPr>
                        <a:t>Example</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4"/>
                    </a:solidFill>
                  </a:tcPr>
                </a:tc>
                <a:tc>
                  <a:txBody>
                    <a:bodyPr/>
                    <a:lstStyle/>
                    <a:p>
                      <a:pPr marL="0" indent="0">
                        <a:buNone/>
                      </a:pPr>
                      <a:r>
                        <a:rPr lang="en-US" sz="1400" dirty="0">
                          <a:solidFill>
                            <a:schemeClr val="tx1"/>
                          </a:solidFill>
                          <a:latin typeface="Times New Roman" panose="02020603050405020304" pitchFamily="18" charset="0"/>
                          <a:cs typeface="Times New Roman" panose="02020603050405020304" pitchFamily="18" charset="0"/>
                        </a:rPr>
                        <a:t>gcc</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Times New Roman" panose="02020603050405020304" pitchFamily="18" charset="0"/>
                          <a:cs typeface="Times New Roman" panose="02020603050405020304" pitchFamily="18" charset="0"/>
                        </a:rPr>
                        <a:t>Python</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Times New Roman" panose="02020603050405020304" pitchFamily="18" charset="0"/>
                          <a:cs typeface="Times New Roman" panose="02020603050405020304" pitchFamily="18" charset="0"/>
                        </a:rPr>
                        <a:t>NASM</a:t>
                      </a:r>
                      <a:endParaRPr lang="en-US" sz="1400" dirty="0">
                        <a:latin typeface="Times New Roman" panose="02020603050405020304" pitchFamily="18" charset="0"/>
                        <a:cs typeface="Times New Roman" panose="02020603050405020304" pitchFamily="18" charset="0"/>
                      </a:endParaRPr>
                    </a:p>
                  </a:txBody>
                  <a:tcPr marL="73152" marR="73152"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4" name="Conclusion box"/>
          <p:cNvSpPr/>
          <p:nvPr/>
        </p:nvSpPr>
        <p:spPr>
          <a:xfrm>
            <a:off x="457200" y="3840480"/>
            <a:ext cx="8229600" cy="731520"/>
          </a:xfrm>
          <a:prstGeom prst="rect">
            <a:avLst/>
          </a:prstGeom>
          <a:solidFill>
            <a:schemeClr val="bg2"/>
          </a:solidFill>
          <a:ln w="12700">
            <a:solidFill>
              <a:schemeClr val="accent3"/>
            </a:solidFill>
          </a:ln>
        </p:spPr>
        <p:txBody>
          <a:bodyPr wrap="square" lIns="152400" tIns="152400" rIns="152400" bIns="152400" rtlCol="0" anchor="ctr"/>
          <a:lstStyle/>
          <a:p>
            <a:pPr marL="0" indent="0">
              <a:buNone/>
            </a:pPr>
            <a:r>
              <a:rPr lang="en-US" sz="1600" b="1" dirty="0">
                <a:solidFill>
                  <a:schemeClr val="tx2"/>
                </a:solidFill>
                <a:latin typeface="Times New Roman" panose="02020603050405020304" pitchFamily="18" charset="0"/>
                <a:cs typeface="Times New Roman" panose="02020603050405020304" pitchFamily="18" charset="0"/>
              </a:rPr>
              <a:t>Conclusion: </a:t>
            </a:r>
            <a:r>
              <a:rPr lang="en-US" sz="1600" dirty="0">
                <a:solidFill>
                  <a:schemeClr val="tx1"/>
                </a:solidFill>
                <a:latin typeface="Times New Roman" panose="02020603050405020304" pitchFamily="18" charset="0"/>
                <a:cs typeface="Times New Roman" panose="02020603050405020304" pitchFamily="18" charset="0"/>
              </a:rPr>
              <a:t>All three bridge the gap between human-written code and the machine. They differ in how and when they translate it.</a:t>
            </a:r>
            <a:endParaRPr lang="en-US" sz="16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BFDF0E-CC14-EC6B-C077-4D2337136ADE}"/>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524586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D6067B-443A-5D1C-50A0-02FCDF906BD9}"/>
              </a:ext>
            </a:extLst>
          </p:cNvPr>
          <p:cNvSpPr txBox="1"/>
          <p:nvPr/>
        </p:nvSpPr>
        <p:spPr>
          <a:xfrm>
            <a:off x="1450792" y="1688123"/>
            <a:ext cx="6242415" cy="1446550"/>
          </a:xfrm>
          <a:prstGeom prst="rect">
            <a:avLst/>
          </a:prstGeom>
          <a:noFill/>
        </p:spPr>
        <p:txBody>
          <a:bodyPr wrap="none" rtlCol="0">
            <a:spAutoFit/>
          </a:bodyPr>
          <a:lstStyle/>
          <a:p>
            <a:r>
              <a:rPr lang="en-US" sz="8800" b="1" dirty="0">
                <a:solidFill>
                  <a:schemeClr val="tx2"/>
                </a:solidFill>
                <a:latin typeface="Algerian" panose="04020705040A02060702" pitchFamily="82" charset="0"/>
              </a:rPr>
              <a:t>Thank you</a:t>
            </a:r>
          </a:p>
        </p:txBody>
      </p:sp>
    </p:spTree>
    <p:extLst>
      <p:ext uri="{BB962C8B-B14F-4D97-AF65-F5344CB8AC3E}">
        <p14:creationId xmlns:p14="http://schemas.microsoft.com/office/powerpoint/2010/main" val="3566030749"/>
      </p:ext>
    </p:extLst>
  </p:cSld>
  <p:clrMapOvr>
    <a:masterClrMapping/>
  </p:clrMapOvr>
</p:sld>
</file>

<file path=ppt/theme/theme1.xml><?xml version="1.0" encoding="utf-8"?>
<a:theme xmlns:a="http://schemas.openxmlformats.org/drawingml/2006/main" name="Student Blue">
  <a:themeElements>
    <a:clrScheme name="Student Blue">
      <a:dk1>
        <a:srgbClr val="1B1B1B"/>
      </a:dk1>
      <a:lt1>
        <a:srgbClr val="FFFFFF"/>
      </a:lt1>
      <a:dk2>
        <a:srgbClr val="1F4E9C"/>
      </a:dk2>
      <a:lt2>
        <a:srgbClr val="EAF2FB"/>
      </a:lt2>
      <a:accent1>
        <a:srgbClr val="1F4E9C"/>
      </a:accent1>
      <a:accent2>
        <a:srgbClr val="3B82C4"/>
      </a:accent2>
      <a:accent3>
        <a:srgbClr val="7FB2E5"/>
      </a:accent3>
      <a:accent4>
        <a:srgbClr val="D3E4F6"/>
      </a:accent4>
      <a:accent5>
        <a:srgbClr val="5B6B7F"/>
      </a:accent5>
      <a:accent6>
        <a:srgbClr val="2E7D32"/>
      </a:accent6>
      <a:hlink>
        <a:srgbClr val="1F4E9C"/>
      </a:hlink>
      <a:folHlink>
        <a:srgbClr val="5B6B7F"/>
      </a:folHlink>
    </a:clrScheme>
    <a:fontScheme name="Student Bl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686</Words>
  <Application>Microsoft Office PowerPoint</Application>
  <PresentationFormat>On-screen Show (16:9)</PresentationFormat>
  <Paragraphs>119</Paragraphs>
  <Slides>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Algerian</vt:lpstr>
      <vt:lpstr>Arial</vt:lpstr>
      <vt:lpstr>Calibri</vt:lpstr>
      <vt:lpstr>Courier New</vt:lpstr>
      <vt:lpstr>Times New Roman</vt:lpstr>
      <vt:lpstr>Student Blue</vt:lpstr>
      <vt:lpstr>Language Processors Overview</vt:lpstr>
      <vt:lpstr>What is a Language Processor?</vt:lpstr>
      <vt:lpstr>Compiler</vt:lpstr>
      <vt:lpstr>Interpreter</vt:lpstr>
      <vt:lpstr>Assembler</vt:lpstr>
      <vt:lpstr>Comparison and Conclusion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Processors Overview</dc:title>
  <dc:subject>PptxGenJS Presentation</dc:subject>
  <dc:creator>PptxGenJS</dc:creator>
  <cp:lastModifiedBy>HemaRavindran .</cp:lastModifiedBy>
  <cp:revision>5</cp:revision>
  <dcterms:created xsi:type="dcterms:W3CDTF">2026-10-12T18:31:54Z</dcterms:created>
  <dcterms:modified xsi:type="dcterms:W3CDTF">2026-10-13T07:42:28Z</dcterms:modified>
</cp:coreProperties>
</file>